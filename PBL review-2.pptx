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6" r:id="rId1"/>
  </p:sldMasterIdLst>
  <p:notesMasterIdLst>
    <p:notesMasterId r:id="rId13"/>
  </p:notesMasterIdLst>
  <p:sldIdLst>
    <p:sldId id="256" r:id="rId2"/>
    <p:sldId id="258" r:id="rId3"/>
    <p:sldId id="257" r:id="rId4"/>
    <p:sldId id="261" r:id="rId5"/>
    <p:sldId id="260" r:id="rId6"/>
    <p:sldId id="264" r:id="rId7"/>
    <p:sldId id="263" r:id="rId8"/>
    <p:sldId id="265" r:id="rId9"/>
    <p:sldId id="262" r:id="rId10"/>
    <p:sldId id="259"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797" autoAdjust="0"/>
  </p:normalViewPr>
  <p:slideViewPr>
    <p:cSldViewPr snapToGrid="0">
      <p:cViewPr varScale="1">
        <p:scale>
          <a:sx n="71" d="100"/>
          <a:sy n="71" d="100"/>
        </p:scale>
        <p:origin x="113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0A86B2-EA70-4F5B-AA6C-2761D785AA2D}" type="datetimeFigureOut">
              <a:rPr lang="en-IN" smtClean="0"/>
              <a:t>13-11-2025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DCD8A4-EF5E-43ED-A6C0-A94FA4AF20A6}" type="slidenum">
              <a:rPr lang="en-IN" smtClean="0"/>
              <a:t>‹#›</a:t>
            </a:fld>
            <a:endParaRPr lang="en-IN"/>
          </a:p>
        </p:txBody>
      </p:sp>
    </p:spTree>
    <p:extLst>
      <p:ext uri="{BB962C8B-B14F-4D97-AF65-F5344CB8AC3E}">
        <p14:creationId xmlns:p14="http://schemas.microsoft.com/office/powerpoint/2010/main" val="1876626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8DCD8A4-EF5E-43ED-A6C0-A94FA4AF20A6}" type="slidenum">
              <a:rPr lang="en-IN" smtClean="0"/>
              <a:t>2</a:t>
            </a:fld>
            <a:endParaRPr lang="en-IN"/>
          </a:p>
        </p:txBody>
      </p:sp>
    </p:spTree>
    <p:extLst>
      <p:ext uri="{BB962C8B-B14F-4D97-AF65-F5344CB8AC3E}">
        <p14:creationId xmlns:p14="http://schemas.microsoft.com/office/powerpoint/2010/main" val="1861579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8DCD8A4-EF5E-43ED-A6C0-A94FA4AF20A6}" type="slidenum">
              <a:rPr lang="en-IN" smtClean="0"/>
              <a:t>3</a:t>
            </a:fld>
            <a:endParaRPr lang="en-IN"/>
          </a:p>
        </p:txBody>
      </p:sp>
    </p:spTree>
    <p:extLst>
      <p:ext uri="{BB962C8B-B14F-4D97-AF65-F5344CB8AC3E}">
        <p14:creationId xmlns:p14="http://schemas.microsoft.com/office/powerpoint/2010/main" val="930265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8DCD8A4-EF5E-43ED-A6C0-A94FA4AF20A6}" type="slidenum">
              <a:rPr lang="en-IN" smtClean="0"/>
              <a:t>4</a:t>
            </a:fld>
            <a:endParaRPr lang="en-IN"/>
          </a:p>
        </p:txBody>
      </p:sp>
    </p:spTree>
    <p:extLst>
      <p:ext uri="{BB962C8B-B14F-4D97-AF65-F5344CB8AC3E}">
        <p14:creationId xmlns:p14="http://schemas.microsoft.com/office/powerpoint/2010/main" val="5055387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8DCD8A4-EF5E-43ED-A6C0-A94FA4AF20A6}" type="slidenum">
              <a:rPr lang="en-IN" smtClean="0"/>
              <a:t>5</a:t>
            </a:fld>
            <a:endParaRPr lang="en-IN"/>
          </a:p>
        </p:txBody>
      </p:sp>
    </p:spTree>
    <p:extLst>
      <p:ext uri="{BB962C8B-B14F-4D97-AF65-F5344CB8AC3E}">
        <p14:creationId xmlns:p14="http://schemas.microsoft.com/office/powerpoint/2010/main" val="2058253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8DCD8A4-EF5E-43ED-A6C0-A94FA4AF20A6}" type="slidenum">
              <a:rPr lang="en-IN" smtClean="0"/>
              <a:t>6</a:t>
            </a:fld>
            <a:endParaRPr lang="en-IN"/>
          </a:p>
        </p:txBody>
      </p:sp>
    </p:spTree>
    <p:extLst>
      <p:ext uri="{BB962C8B-B14F-4D97-AF65-F5344CB8AC3E}">
        <p14:creationId xmlns:p14="http://schemas.microsoft.com/office/powerpoint/2010/main" val="2703645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8DCD8A4-EF5E-43ED-A6C0-A94FA4AF20A6}" type="slidenum">
              <a:rPr lang="en-IN" smtClean="0"/>
              <a:t>7</a:t>
            </a:fld>
            <a:endParaRPr lang="en-IN"/>
          </a:p>
        </p:txBody>
      </p:sp>
    </p:spTree>
    <p:extLst>
      <p:ext uri="{BB962C8B-B14F-4D97-AF65-F5344CB8AC3E}">
        <p14:creationId xmlns:p14="http://schemas.microsoft.com/office/powerpoint/2010/main" val="1039052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8DCD8A4-EF5E-43ED-A6C0-A94FA4AF20A6}" type="slidenum">
              <a:rPr lang="en-IN" smtClean="0"/>
              <a:t>8</a:t>
            </a:fld>
            <a:endParaRPr lang="en-IN"/>
          </a:p>
        </p:txBody>
      </p:sp>
    </p:spTree>
    <p:extLst>
      <p:ext uri="{BB962C8B-B14F-4D97-AF65-F5344CB8AC3E}">
        <p14:creationId xmlns:p14="http://schemas.microsoft.com/office/powerpoint/2010/main" val="1877739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8C0082BB-8359-4376-9BB5-F876B7B27E33}" type="datetimeFigureOut">
              <a:rPr lang="en-IN" smtClean="0"/>
              <a:t>13-11-2025</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8565CCB6-D1FB-48D2-B883-5A02D072FF70}" type="slidenum">
              <a:rPr lang="en-IN" smtClean="0"/>
              <a:t>‹#›</a:t>
            </a:fld>
            <a:endParaRPr lang="en-IN"/>
          </a:p>
        </p:txBody>
      </p:sp>
    </p:spTree>
    <p:extLst>
      <p:ext uri="{BB962C8B-B14F-4D97-AF65-F5344CB8AC3E}">
        <p14:creationId xmlns:p14="http://schemas.microsoft.com/office/powerpoint/2010/main" val="491837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0082BB-8359-4376-9BB5-F876B7B27E33}" type="datetimeFigureOut">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65CCB6-D1FB-48D2-B883-5A02D072FF70}" type="slidenum">
              <a:rPr lang="en-IN" smtClean="0"/>
              <a:t>‹#›</a:t>
            </a:fld>
            <a:endParaRPr lang="en-IN"/>
          </a:p>
        </p:txBody>
      </p:sp>
    </p:spTree>
    <p:extLst>
      <p:ext uri="{BB962C8B-B14F-4D97-AF65-F5344CB8AC3E}">
        <p14:creationId xmlns:p14="http://schemas.microsoft.com/office/powerpoint/2010/main" val="3167883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0082BB-8359-4376-9BB5-F876B7B27E33}" type="datetimeFigureOut">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565CCB6-D1FB-48D2-B883-5A02D072FF70}" type="slidenum">
              <a:rPr lang="en-IN" smtClean="0"/>
              <a:t>‹#›</a:t>
            </a:fld>
            <a:endParaRPr lang="en-IN"/>
          </a:p>
        </p:txBody>
      </p:sp>
    </p:spTree>
    <p:extLst>
      <p:ext uri="{BB962C8B-B14F-4D97-AF65-F5344CB8AC3E}">
        <p14:creationId xmlns:p14="http://schemas.microsoft.com/office/powerpoint/2010/main" val="3376773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C0082BB-8359-4376-9BB5-F876B7B27E33}" type="datetimeFigureOut">
              <a:rPr lang="en-IN" smtClean="0"/>
              <a:t>13-11-2025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65CCB6-D1FB-48D2-B883-5A02D072FF70}" type="slidenum">
              <a:rPr lang="en-IN" smtClean="0"/>
              <a:t>‹#›</a:t>
            </a:fld>
            <a:endParaRPr lang="en-IN"/>
          </a:p>
        </p:txBody>
      </p:sp>
    </p:spTree>
    <p:extLst>
      <p:ext uri="{BB962C8B-B14F-4D97-AF65-F5344CB8AC3E}">
        <p14:creationId xmlns:p14="http://schemas.microsoft.com/office/powerpoint/2010/main" val="720822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C0082BB-8359-4376-9BB5-F876B7B27E33}" type="datetimeFigureOut">
              <a:rPr lang="en-IN" smtClean="0"/>
              <a:t>13-11-2025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565CCB6-D1FB-48D2-B883-5A02D072FF70}" type="slidenum">
              <a:rPr lang="en-IN" smtClean="0"/>
              <a:t>‹#›</a:t>
            </a:fld>
            <a:endParaRPr lang="en-IN"/>
          </a:p>
        </p:txBody>
      </p:sp>
    </p:spTree>
    <p:extLst>
      <p:ext uri="{BB962C8B-B14F-4D97-AF65-F5344CB8AC3E}">
        <p14:creationId xmlns:p14="http://schemas.microsoft.com/office/powerpoint/2010/main" val="926981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0082BB-8359-4376-9BB5-F876B7B27E33}" type="datetimeFigureOut">
              <a:rPr lang="en-IN" smtClean="0"/>
              <a:t>13-11-2025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565CCB6-D1FB-48D2-B883-5A02D072FF70}" type="slidenum">
              <a:rPr lang="en-IN" smtClean="0"/>
              <a:t>‹#›</a:t>
            </a:fld>
            <a:endParaRPr lang="en-IN"/>
          </a:p>
        </p:txBody>
      </p:sp>
    </p:spTree>
    <p:extLst>
      <p:ext uri="{BB962C8B-B14F-4D97-AF65-F5344CB8AC3E}">
        <p14:creationId xmlns:p14="http://schemas.microsoft.com/office/powerpoint/2010/main" val="4211148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0082BB-8359-4376-9BB5-F876B7B27E33}" type="datetimeFigureOut">
              <a:rPr lang="en-IN" smtClean="0"/>
              <a:t>13-11-2025</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8565CCB6-D1FB-48D2-B883-5A02D072FF70}" type="slidenum">
              <a:rPr lang="en-IN" smtClean="0"/>
              <a:t>‹#›</a:t>
            </a:fld>
            <a:endParaRPr lang="en-IN"/>
          </a:p>
        </p:txBody>
      </p:sp>
    </p:spTree>
    <p:extLst>
      <p:ext uri="{BB962C8B-B14F-4D97-AF65-F5344CB8AC3E}">
        <p14:creationId xmlns:p14="http://schemas.microsoft.com/office/powerpoint/2010/main" val="2880823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0082BB-8359-4376-9BB5-F876B7B27E33}" type="datetimeFigureOut">
              <a:rPr lang="en-IN" smtClean="0"/>
              <a:t>13-11-2025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565CCB6-D1FB-48D2-B883-5A02D072FF70}" type="slidenum">
              <a:rPr lang="en-IN" smtClean="0"/>
              <a:t>‹#›</a:t>
            </a:fld>
            <a:endParaRPr lang="en-IN"/>
          </a:p>
        </p:txBody>
      </p:sp>
    </p:spTree>
    <p:extLst>
      <p:ext uri="{BB962C8B-B14F-4D97-AF65-F5344CB8AC3E}">
        <p14:creationId xmlns:p14="http://schemas.microsoft.com/office/powerpoint/2010/main" val="1542545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0082BB-8359-4376-9BB5-F876B7B27E33}" type="datetimeFigureOut">
              <a:rPr lang="en-IN" smtClean="0"/>
              <a:t>13-11-2025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565CCB6-D1FB-48D2-B883-5A02D072FF70}" type="slidenum">
              <a:rPr lang="en-IN" smtClean="0"/>
              <a:t>‹#›</a:t>
            </a:fld>
            <a:endParaRPr lang="en-IN"/>
          </a:p>
        </p:txBody>
      </p:sp>
    </p:spTree>
    <p:extLst>
      <p:ext uri="{BB962C8B-B14F-4D97-AF65-F5344CB8AC3E}">
        <p14:creationId xmlns:p14="http://schemas.microsoft.com/office/powerpoint/2010/main" val="3422358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0082BB-8359-4376-9BB5-F876B7B27E33}" type="datetimeFigureOut">
              <a:rPr lang="en-IN" smtClean="0"/>
              <a:t>13-11-2025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565CCB6-D1FB-48D2-B883-5A02D072FF70}" type="slidenum">
              <a:rPr lang="en-IN" smtClean="0"/>
              <a:t>‹#›</a:t>
            </a:fld>
            <a:endParaRPr lang="en-IN"/>
          </a:p>
        </p:txBody>
      </p:sp>
    </p:spTree>
    <p:extLst>
      <p:ext uri="{BB962C8B-B14F-4D97-AF65-F5344CB8AC3E}">
        <p14:creationId xmlns:p14="http://schemas.microsoft.com/office/powerpoint/2010/main" val="878965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C0082BB-8359-4376-9BB5-F876B7B27E33}" type="datetimeFigureOut">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565CCB6-D1FB-48D2-B883-5A02D072FF70}" type="slidenum">
              <a:rPr lang="en-IN" smtClean="0"/>
              <a:t>‹#›</a:t>
            </a:fld>
            <a:endParaRPr lang="en-IN"/>
          </a:p>
        </p:txBody>
      </p:sp>
    </p:spTree>
    <p:extLst>
      <p:ext uri="{BB962C8B-B14F-4D97-AF65-F5344CB8AC3E}">
        <p14:creationId xmlns:p14="http://schemas.microsoft.com/office/powerpoint/2010/main" val="25429178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C0082BB-8359-4376-9BB5-F876B7B27E33}" type="datetimeFigureOut">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565CCB6-D1FB-48D2-B883-5A02D072FF70}" type="slidenum">
              <a:rPr lang="en-IN" smtClean="0"/>
              <a:t>‹#›</a:t>
            </a:fld>
            <a:endParaRPr lang="en-IN"/>
          </a:p>
        </p:txBody>
      </p:sp>
    </p:spTree>
    <p:extLst>
      <p:ext uri="{BB962C8B-B14F-4D97-AF65-F5344CB8AC3E}">
        <p14:creationId xmlns:p14="http://schemas.microsoft.com/office/powerpoint/2010/main" val="39692600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0082BB-8359-4376-9BB5-F876B7B27E33}" type="datetimeFigureOut">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565CCB6-D1FB-48D2-B883-5A02D072FF70}" type="slidenum">
              <a:rPr lang="en-IN" smtClean="0"/>
              <a:t>‹#›</a:t>
            </a:fld>
            <a:endParaRPr lang="en-IN"/>
          </a:p>
        </p:txBody>
      </p:sp>
    </p:spTree>
    <p:extLst>
      <p:ext uri="{BB962C8B-B14F-4D97-AF65-F5344CB8AC3E}">
        <p14:creationId xmlns:p14="http://schemas.microsoft.com/office/powerpoint/2010/main" val="20018080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C0082BB-8359-4376-9BB5-F876B7B27E33}" type="datetimeFigureOut">
              <a:rPr lang="en-IN" smtClean="0"/>
              <a:t>13-11-2025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565CCB6-D1FB-48D2-B883-5A02D072FF70}" type="slidenum">
              <a:rPr lang="en-IN" smtClean="0"/>
              <a:t>‹#›</a:t>
            </a:fld>
            <a:endParaRPr lang="en-IN"/>
          </a:p>
        </p:txBody>
      </p:sp>
    </p:spTree>
    <p:extLst>
      <p:ext uri="{BB962C8B-B14F-4D97-AF65-F5344CB8AC3E}">
        <p14:creationId xmlns:p14="http://schemas.microsoft.com/office/powerpoint/2010/main" val="37047758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C0082BB-8359-4376-9BB5-F876B7B27E33}" type="datetimeFigureOut">
              <a:rPr lang="en-IN" smtClean="0"/>
              <a:t>13-11-2025</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8565CCB6-D1FB-48D2-B883-5A02D072FF70}" type="slidenum">
              <a:rPr lang="en-IN" smtClean="0"/>
              <a:t>‹#›</a:t>
            </a:fld>
            <a:endParaRPr lang="en-IN"/>
          </a:p>
        </p:txBody>
      </p:sp>
    </p:spTree>
    <p:extLst>
      <p:ext uri="{BB962C8B-B14F-4D97-AF65-F5344CB8AC3E}">
        <p14:creationId xmlns:p14="http://schemas.microsoft.com/office/powerpoint/2010/main" val="35559607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8C0082BB-8359-4376-9BB5-F876B7B27E33}" type="datetimeFigureOut">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65CCB6-D1FB-48D2-B883-5A02D072FF70}" type="slidenum">
              <a:rPr lang="en-IN" smtClean="0"/>
              <a:t>‹#›</a:t>
            </a:fld>
            <a:endParaRPr lang="en-IN"/>
          </a:p>
        </p:txBody>
      </p:sp>
    </p:spTree>
    <p:extLst>
      <p:ext uri="{BB962C8B-B14F-4D97-AF65-F5344CB8AC3E}">
        <p14:creationId xmlns:p14="http://schemas.microsoft.com/office/powerpoint/2010/main" val="1217369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8C0082BB-8359-4376-9BB5-F876B7B27E33}" type="datetimeFigureOut">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565CCB6-D1FB-48D2-B883-5A02D072FF70}" type="slidenum">
              <a:rPr lang="en-IN" smtClean="0"/>
              <a:t>‹#›</a:t>
            </a:fld>
            <a:endParaRPr lang="en-IN"/>
          </a:p>
        </p:txBody>
      </p:sp>
    </p:spTree>
    <p:extLst>
      <p:ext uri="{BB962C8B-B14F-4D97-AF65-F5344CB8AC3E}">
        <p14:creationId xmlns:p14="http://schemas.microsoft.com/office/powerpoint/2010/main" val="4226717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8C0082BB-8359-4376-9BB5-F876B7B27E33}" type="datetimeFigureOut">
              <a:rPr lang="en-IN" smtClean="0"/>
              <a:t>13-11-2025</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8565CCB6-D1FB-48D2-B883-5A02D072FF70}" type="slidenum">
              <a:rPr lang="en-IN" smtClean="0"/>
              <a:t>‹#›</a:t>
            </a:fld>
            <a:endParaRPr lang="en-IN"/>
          </a:p>
        </p:txBody>
      </p:sp>
    </p:spTree>
    <p:extLst>
      <p:ext uri="{BB962C8B-B14F-4D97-AF65-F5344CB8AC3E}">
        <p14:creationId xmlns:p14="http://schemas.microsoft.com/office/powerpoint/2010/main" val="1610772015"/>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 id="2147483858" r:id="rId12"/>
    <p:sldLayoutId id="2147483859" r:id="rId13"/>
    <p:sldLayoutId id="2147483860" r:id="rId14"/>
    <p:sldLayoutId id="2147483861" r:id="rId15"/>
    <p:sldLayoutId id="2147483862" r:id="rId16"/>
    <p:sldLayoutId id="2147483863"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69A06-C011-1F5A-5BAF-97A9E7B981F4}"/>
              </a:ext>
            </a:extLst>
          </p:cNvPr>
          <p:cNvSpPr>
            <a:spLocks noGrp="1"/>
          </p:cNvSpPr>
          <p:nvPr>
            <p:ph type="ctrTitle"/>
          </p:nvPr>
        </p:nvSpPr>
        <p:spPr>
          <a:xfrm>
            <a:off x="889484" y="727586"/>
            <a:ext cx="8825658" cy="2181665"/>
          </a:xfrm>
        </p:spPr>
        <p:txBody>
          <a:bodyPr/>
          <a:lstStyle/>
          <a:p>
            <a:pPr algn="r"/>
            <a:r>
              <a:rPr lang="en-IN" sz="4800" b="1" dirty="0">
                <a:latin typeface="Arial Narrow" panose="020B0606020202030204" pitchFamily="34" charset="0"/>
              </a:rPr>
              <a:t>EVENT MANAGEMENT SYSTEM</a:t>
            </a:r>
            <a:r>
              <a:rPr lang="en-IN" sz="4800" dirty="0">
                <a:latin typeface="Arial Narrow" panose="020B0606020202030204" pitchFamily="34" charset="0"/>
              </a:rPr>
              <a:t> </a:t>
            </a:r>
            <a:r>
              <a:rPr lang="en-IN" sz="4400" b="1" dirty="0">
                <a:latin typeface="Arial Narrow" panose="020B0606020202030204" pitchFamily="34" charset="0"/>
              </a:rPr>
              <a:t>LITERATURE</a:t>
            </a:r>
            <a:r>
              <a:rPr lang="en-IN" dirty="0">
                <a:latin typeface="Arial Narrow" panose="020B0606020202030204" pitchFamily="34" charset="0"/>
              </a:rPr>
              <a:t> </a:t>
            </a:r>
            <a:r>
              <a:rPr lang="en-IN" sz="4400" b="1" dirty="0">
                <a:latin typeface="Arial Narrow" panose="020B0606020202030204" pitchFamily="34" charset="0"/>
              </a:rPr>
              <a:t>REVIEW</a:t>
            </a:r>
            <a:endParaRPr lang="en-IN" dirty="0">
              <a:latin typeface="Arial Narrow" panose="020B0606020202030204" pitchFamily="34" charset="0"/>
            </a:endParaRPr>
          </a:p>
        </p:txBody>
      </p:sp>
      <p:sp>
        <p:nvSpPr>
          <p:cNvPr id="3" name="Subtitle 2">
            <a:extLst>
              <a:ext uri="{FF2B5EF4-FFF2-40B4-BE49-F238E27FC236}">
                <a16:creationId xmlns:a16="http://schemas.microsoft.com/office/drawing/2014/main" id="{7E717399-AE80-7574-CC8B-6461D9BFE7B3}"/>
              </a:ext>
            </a:extLst>
          </p:cNvPr>
          <p:cNvSpPr>
            <a:spLocks noGrp="1"/>
          </p:cNvSpPr>
          <p:nvPr>
            <p:ph type="subTitle" idx="1"/>
          </p:nvPr>
        </p:nvSpPr>
        <p:spPr>
          <a:xfrm>
            <a:off x="1154955" y="3746090"/>
            <a:ext cx="8825658" cy="1892710"/>
          </a:xfrm>
        </p:spPr>
        <p:txBody>
          <a:bodyPr>
            <a:normAutofit lnSpcReduction="10000"/>
          </a:bodyPr>
          <a:lstStyle/>
          <a:p>
            <a:r>
              <a:rPr lang="en-IN" b="1" dirty="0"/>
              <a:t>2410030138 – KYASA GOWTHAM</a:t>
            </a:r>
          </a:p>
          <a:p>
            <a:r>
              <a:rPr lang="en-IN" b="1" dirty="0"/>
              <a:t>2410030188 – ANISH JADHAV</a:t>
            </a:r>
          </a:p>
          <a:p>
            <a:r>
              <a:rPr lang="en-IN" b="1" dirty="0"/>
              <a:t>2410030320 – VENKATA MUKESH</a:t>
            </a:r>
          </a:p>
          <a:p>
            <a:r>
              <a:rPr lang="en-IN" b="1"/>
              <a:t>2410030496 – P.KARTHIKEYAN</a:t>
            </a:r>
            <a:endParaRPr lang="en-IN" b="1" dirty="0"/>
          </a:p>
          <a:p>
            <a:r>
              <a:rPr lang="en-IN" b="1" dirty="0"/>
              <a:t>2410030250 – G. KISHORE</a:t>
            </a:r>
          </a:p>
        </p:txBody>
      </p:sp>
    </p:spTree>
    <p:extLst>
      <p:ext uri="{BB962C8B-B14F-4D97-AF65-F5344CB8AC3E}">
        <p14:creationId xmlns:p14="http://schemas.microsoft.com/office/powerpoint/2010/main" val="2780242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89CD68-47F7-DDC3-0544-5A7E97FFEBBF}"/>
              </a:ext>
            </a:extLst>
          </p:cNvPr>
          <p:cNvSpPr>
            <a:spLocks noGrp="1"/>
          </p:cNvSpPr>
          <p:nvPr>
            <p:ph type="ctrTitle"/>
          </p:nvPr>
        </p:nvSpPr>
        <p:spPr>
          <a:xfrm>
            <a:off x="1263111" y="1406013"/>
            <a:ext cx="8825658" cy="3686000"/>
          </a:xfrm>
        </p:spPr>
        <p:txBody>
          <a:bodyPr/>
          <a:lstStyle/>
          <a:p>
            <a:br>
              <a:rPr lang="en-IN" sz="1400" dirty="0">
                <a:solidFill>
                  <a:schemeClr val="accent5">
                    <a:lumMod val="75000"/>
                  </a:schemeClr>
                </a:solidFill>
                <a:latin typeface="Aptos" panose="020B0004020202020204" pitchFamily="34" charset="0"/>
              </a:rPr>
            </a:br>
            <a:br>
              <a:rPr lang="en-IN" sz="1400" dirty="0">
                <a:solidFill>
                  <a:schemeClr val="accent5">
                    <a:lumMod val="75000"/>
                  </a:schemeClr>
                </a:solidFill>
                <a:latin typeface="Aptos" panose="020B0004020202020204" pitchFamily="34" charset="0"/>
              </a:rPr>
            </a:br>
            <a:br>
              <a:rPr lang="en-IN" sz="1400" dirty="0">
                <a:solidFill>
                  <a:schemeClr val="accent5">
                    <a:lumMod val="75000"/>
                  </a:schemeClr>
                </a:solidFill>
                <a:latin typeface="Aptos" panose="020B0004020202020204" pitchFamily="34" charset="0"/>
              </a:rPr>
            </a:br>
            <a:r>
              <a:rPr lang="en-IN" sz="3200" dirty="0">
                <a:solidFill>
                  <a:schemeClr val="bg1"/>
                </a:solidFill>
                <a:latin typeface="Algerian" panose="04020705040A02060702" pitchFamily="82" charset="0"/>
              </a:rPr>
              <a:t>RESEARCH PAPER 1</a:t>
            </a:r>
            <a:br>
              <a:rPr lang="en-IN" sz="3200" b="1" dirty="0">
                <a:solidFill>
                  <a:schemeClr val="bg1"/>
                </a:solidFill>
                <a:latin typeface="Aptos" panose="020B0004020202020204" pitchFamily="34" charset="0"/>
              </a:rPr>
            </a:br>
            <a:br>
              <a:rPr lang="en-IN" sz="3200" b="1" dirty="0">
                <a:solidFill>
                  <a:schemeClr val="bg1"/>
                </a:solidFill>
                <a:latin typeface="Aptos" panose="020B0004020202020204" pitchFamily="34" charset="0"/>
              </a:rPr>
            </a:br>
            <a:r>
              <a:rPr lang="en-IN" sz="2000" b="1" dirty="0">
                <a:solidFill>
                  <a:schemeClr val="bg1"/>
                </a:solidFill>
                <a:latin typeface="Aptos" panose="020B0004020202020204" pitchFamily="34" charset="0"/>
              </a:rPr>
              <a:t>Event Management Systems (EMS)</a:t>
            </a:r>
            <a:br>
              <a:rPr lang="en-IN" sz="2800" dirty="0">
                <a:latin typeface="Algerian" panose="04020705040A02060702" pitchFamily="82" charset="0"/>
              </a:rPr>
            </a:br>
            <a:br>
              <a:rPr lang="en-IN" sz="2000" dirty="0"/>
            </a:br>
            <a:r>
              <a:rPr lang="en-US" sz="2000" dirty="0">
                <a:latin typeface="Arial Narrow" panose="020B0606020202030204" pitchFamily="34" charset="0"/>
              </a:rPr>
              <a:t>The paper presents the design and implementation of a Database System for Event Management Customizer (EMC), a startup in Malaysia. The system manages clients, bookings, payments, accommodations, staff, and facilities through a MySQL-based relational database. Using ER modeling and SQL queries, it ensures accurate, efficient, and scalable data handling.</a:t>
            </a:r>
            <a:br>
              <a:rPr lang="en-US" sz="2000" dirty="0">
                <a:latin typeface="Arial Narrow" panose="020B0606020202030204" pitchFamily="34" charset="0"/>
              </a:rPr>
            </a:br>
            <a:endParaRPr lang="en-IN" sz="2000" dirty="0">
              <a:latin typeface="Arial Narrow" panose="020B0606020202030204" pitchFamily="34" charset="0"/>
            </a:endParaRPr>
          </a:p>
        </p:txBody>
      </p:sp>
    </p:spTree>
    <p:extLst>
      <p:ext uri="{BB962C8B-B14F-4D97-AF65-F5344CB8AC3E}">
        <p14:creationId xmlns:p14="http://schemas.microsoft.com/office/powerpoint/2010/main" val="1685956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412F14-0E55-E2D3-F57C-BB2D65499524}"/>
              </a:ext>
            </a:extLst>
          </p:cNvPr>
          <p:cNvSpPr>
            <a:spLocks noGrp="1"/>
          </p:cNvSpPr>
          <p:nvPr>
            <p:ph type="ctrTitle"/>
          </p:nvPr>
        </p:nvSpPr>
        <p:spPr>
          <a:xfrm>
            <a:off x="1164787" y="1435510"/>
            <a:ext cx="8825658" cy="3774491"/>
          </a:xfrm>
        </p:spPr>
        <p:txBody>
          <a:bodyPr/>
          <a:lstStyle/>
          <a:p>
            <a:r>
              <a:rPr lang="en-IN" sz="2400" dirty="0">
                <a:latin typeface="Algerian" panose="04020705040A02060702" pitchFamily="82" charset="0"/>
              </a:rPr>
              <a:t>RESEARCH PAPER 2</a:t>
            </a:r>
            <a:br>
              <a:rPr lang="en-IN" sz="2400" dirty="0">
                <a:latin typeface="Algerian" panose="04020705040A02060702" pitchFamily="82" charset="0"/>
              </a:rPr>
            </a:br>
            <a:br>
              <a:rPr lang="en-IN" sz="2400" dirty="0">
                <a:latin typeface="Algerian" panose="04020705040A02060702" pitchFamily="82" charset="0"/>
              </a:rPr>
            </a:br>
            <a:r>
              <a:rPr lang="en-US" sz="2400" b="1" dirty="0">
                <a:latin typeface="Aptos" panose="020B0004020202020204" pitchFamily="34" charset="0"/>
              </a:rPr>
              <a:t>Design and Implementation of a Database System for Event Management Customizer (EMC)</a:t>
            </a:r>
            <a:br>
              <a:rPr lang="en-IN" sz="2800" dirty="0">
                <a:latin typeface="Algerian" panose="04020705040A02060702" pitchFamily="82" charset="0"/>
              </a:rPr>
            </a:br>
            <a:br>
              <a:rPr lang="en-IN" sz="1400" dirty="0"/>
            </a:br>
            <a:r>
              <a:rPr lang="en-US" sz="2000" dirty="0">
                <a:latin typeface="Arial Narrow" panose="020B0606020202030204" pitchFamily="34" charset="0"/>
              </a:rPr>
              <a:t>The EMS is a web-based platform that streamlines event planning by allowing users to book services like catering, décor, and venues online. Built with React.js, Node.js, and Firebase/MongoDB using the RAD model, it enhances convenience, reduces miscommunication, and simplifies management for both clients and admins. While it lacks some service options and mobile support, it significantly improves upon traditional manual event planning.</a:t>
            </a:r>
            <a:br>
              <a:rPr lang="en-US" sz="2000" dirty="0"/>
            </a:br>
            <a:endParaRPr lang="en-IN" sz="2000" dirty="0"/>
          </a:p>
        </p:txBody>
      </p:sp>
    </p:spTree>
    <p:extLst>
      <p:ext uri="{BB962C8B-B14F-4D97-AF65-F5344CB8AC3E}">
        <p14:creationId xmlns:p14="http://schemas.microsoft.com/office/powerpoint/2010/main" val="327078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5CFC65-FD48-237D-22CD-0E04843A3B0E}"/>
              </a:ext>
            </a:extLst>
          </p:cNvPr>
          <p:cNvSpPr>
            <a:spLocks noGrp="1"/>
          </p:cNvSpPr>
          <p:nvPr>
            <p:ph type="ctrTitle"/>
          </p:nvPr>
        </p:nvSpPr>
        <p:spPr/>
        <p:txBody>
          <a:bodyPr/>
          <a:lstStyle/>
          <a:p>
            <a:r>
              <a:rPr lang="en-IN" sz="2800" dirty="0">
                <a:latin typeface="Algerian" panose="04020705040A02060702" pitchFamily="82" charset="0"/>
              </a:rPr>
              <a:t>RESEARCH PAPER 3</a:t>
            </a:r>
            <a:br>
              <a:rPr lang="en-IN" sz="2800" dirty="0">
                <a:latin typeface="Algerian" panose="04020705040A02060702" pitchFamily="82" charset="0"/>
              </a:rPr>
            </a:br>
            <a:br>
              <a:rPr lang="en-IN" sz="2800" dirty="0">
                <a:latin typeface="Algerian" panose="04020705040A02060702" pitchFamily="82" charset="0"/>
              </a:rPr>
            </a:br>
            <a:r>
              <a:rPr lang="en-US" sz="2400" b="1" dirty="0">
                <a:latin typeface="Aptos" panose="020B0004020202020204" pitchFamily="34" charset="0"/>
              </a:rPr>
              <a:t>Innovative Event Management Platform Design with Integrated Ticketing and Networking Features</a:t>
            </a:r>
            <a:br>
              <a:rPr lang="en-IN" sz="2800" dirty="0">
                <a:latin typeface="Algerian" panose="04020705040A02060702" pitchFamily="82" charset="0"/>
              </a:rPr>
            </a:br>
            <a:br>
              <a:rPr lang="en-IN" sz="1000" dirty="0"/>
            </a:br>
            <a:r>
              <a:rPr lang="en-US" sz="2000" dirty="0">
                <a:latin typeface="Arial Narrow" panose="020B0606020202030204" pitchFamily="34" charset="0"/>
              </a:rPr>
              <a:t>The paper proposes an event management app for ULBI that integrates ticketing, scheduling, and networking to make campus events more organized and accessible. Built with a mobile-first, cloud-based design, it allows easy event creation, booking, and real-time updates. Surveys with students and staff showed strong support, as the system improves engagement, transparency, and revenue generation while offering a better overall event experience.  </a:t>
            </a:r>
            <a:endParaRPr lang="en-IN" sz="2000" dirty="0">
              <a:latin typeface="Arial Narrow" panose="020B0606020202030204" pitchFamily="34" charset="0"/>
            </a:endParaRPr>
          </a:p>
        </p:txBody>
      </p:sp>
    </p:spTree>
    <p:extLst>
      <p:ext uri="{BB962C8B-B14F-4D97-AF65-F5344CB8AC3E}">
        <p14:creationId xmlns:p14="http://schemas.microsoft.com/office/powerpoint/2010/main" val="3695102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E674C1-1EF6-49A1-A7CD-BDDA230CE41B}"/>
              </a:ext>
            </a:extLst>
          </p:cNvPr>
          <p:cNvSpPr>
            <a:spLocks noGrp="1"/>
          </p:cNvSpPr>
          <p:nvPr>
            <p:ph type="ctrTitle"/>
          </p:nvPr>
        </p:nvSpPr>
        <p:spPr>
          <a:xfrm>
            <a:off x="1154955" y="943897"/>
            <a:ext cx="8825658" cy="3833484"/>
          </a:xfrm>
        </p:spPr>
        <p:txBody>
          <a:bodyPr/>
          <a:lstStyle/>
          <a:p>
            <a:r>
              <a:rPr lang="en-IN" sz="2800" dirty="0">
                <a:latin typeface="Algerian" panose="04020705040A02060702" pitchFamily="82" charset="0"/>
              </a:rPr>
              <a:t>Research paper 4</a:t>
            </a:r>
            <a:br>
              <a:rPr lang="en-IN" sz="2800" dirty="0">
                <a:latin typeface="Algerian" panose="04020705040A02060702" pitchFamily="82" charset="0"/>
              </a:rPr>
            </a:br>
            <a:br>
              <a:rPr lang="en-IN" sz="2800" b="1" dirty="0">
                <a:latin typeface="Algerian" panose="04020705040A02060702" pitchFamily="82" charset="0"/>
              </a:rPr>
            </a:br>
            <a:r>
              <a:rPr lang="en-US" sz="2400" b="1" dirty="0">
                <a:latin typeface="Aptos" panose="020B0004020202020204" pitchFamily="34" charset="0"/>
              </a:rPr>
              <a:t>Event Management System Using Progressive Web Application</a:t>
            </a:r>
            <a:br>
              <a:rPr lang="en-IN" sz="2800" dirty="0">
                <a:latin typeface="Algerian" panose="04020705040A02060702" pitchFamily="82" charset="0"/>
              </a:rPr>
            </a:br>
            <a:br>
              <a:rPr lang="en-IN" sz="1100" dirty="0"/>
            </a:br>
            <a:r>
              <a:rPr lang="en-US" sz="2000" dirty="0">
                <a:latin typeface="Arial Narrow" panose="020B0606020202030204" pitchFamily="34" charset="0"/>
              </a:rPr>
              <a:t>The paper introduces DAWAT, a Progressive Web Application for event management that simplifies booking and organizing events like weddings, parties, and conferences. It offers features for customers (event creation, budgeting, payments, reminders), admins (event and vendor management, reporting), and vendors (profiles, communication, payments). The system aims to make event planning more user-friendly, efficient, and accessible, bridging the gap between organizers, vendors, and clients. </a:t>
            </a:r>
            <a:endParaRPr lang="en-IN" sz="2000" dirty="0">
              <a:latin typeface="Arial Narrow" panose="020B0606020202030204" pitchFamily="34" charset="0"/>
            </a:endParaRPr>
          </a:p>
        </p:txBody>
      </p:sp>
    </p:spTree>
    <p:extLst>
      <p:ext uri="{BB962C8B-B14F-4D97-AF65-F5344CB8AC3E}">
        <p14:creationId xmlns:p14="http://schemas.microsoft.com/office/powerpoint/2010/main" val="3810712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DFBF92-B731-A3F9-267E-5102F5E1E582}"/>
              </a:ext>
            </a:extLst>
          </p:cNvPr>
          <p:cNvSpPr>
            <a:spLocks noGrp="1"/>
          </p:cNvSpPr>
          <p:nvPr>
            <p:ph type="ctrTitle"/>
          </p:nvPr>
        </p:nvSpPr>
        <p:spPr>
          <a:xfrm>
            <a:off x="1273289" y="2530039"/>
            <a:ext cx="8825658" cy="2677648"/>
          </a:xfrm>
        </p:spPr>
        <p:txBody>
          <a:bodyPr/>
          <a:lstStyle/>
          <a:p>
            <a:r>
              <a:rPr lang="en-IN" sz="2800" dirty="0">
                <a:latin typeface="Algerian" panose="04020705040A02060702" pitchFamily="82" charset="0"/>
              </a:rPr>
              <a:t>Research paper 5</a:t>
            </a:r>
            <a:br>
              <a:rPr lang="en-IN" sz="2800" dirty="0">
                <a:latin typeface="Algerian" panose="04020705040A02060702" pitchFamily="82" charset="0"/>
              </a:rPr>
            </a:br>
            <a:br>
              <a:rPr lang="en-IN" sz="2800" dirty="0">
                <a:latin typeface="Algerian" panose="04020705040A02060702" pitchFamily="82" charset="0"/>
              </a:rPr>
            </a:br>
            <a:r>
              <a:rPr lang="en-US" sz="2400" b="1" dirty="0">
                <a:latin typeface="Aptos" panose="020B0004020202020204" pitchFamily="34" charset="0"/>
              </a:rPr>
              <a:t>Event Management System for Conference &amp; Workshop </a:t>
            </a:r>
            <a:br>
              <a:rPr lang="en-IN" sz="2800" dirty="0">
                <a:latin typeface="Algerian" panose="04020705040A02060702" pitchFamily="82" charset="0"/>
              </a:rPr>
            </a:br>
            <a:br>
              <a:rPr lang="en-IN" sz="1100" dirty="0">
                <a:latin typeface="Algerian" panose="04020705040A02060702" pitchFamily="82" charset="0"/>
              </a:rPr>
            </a:br>
            <a:r>
              <a:rPr lang="en-US" sz="2000" dirty="0">
                <a:latin typeface="Arial Narrow" panose="020B0606020202030204" pitchFamily="34" charset="0"/>
              </a:rPr>
              <a:t>The paper presents a web-based Event Management System that streamlines event planning by managing bookings, venues, catering, and customer details in one platform. It reduces manual work, saves time, and improves efficiency compared to traditional methods. The system uses HTML, PHP, and MySQL for implementation and was tested to ensure reliability, user-friendliness, and accuracy in managing events. It also highlights how automation can enhance customer satisfaction, transparency, and scalability for future event management needs</a:t>
            </a:r>
            <a:r>
              <a:rPr lang="en-US" sz="1100" dirty="0">
                <a:latin typeface="Algerian" panose="04020705040A02060702" pitchFamily="82" charset="0"/>
              </a:rPr>
              <a:t>.  </a:t>
            </a:r>
            <a:endParaRPr lang="en-IN" sz="1100" dirty="0">
              <a:latin typeface="Algerian" panose="04020705040A02060702" pitchFamily="82" charset="0"/>
            </a:endParaRPr>
          </a:p>
        </p:txBody>
      </p:sp>
    </p:spTree>
    <p:extLst>
      <p:ext uri="{BB962C8B-B14F-4D97-AF65-F5344CB8AC3E}">
        <p14:creationId xmlns:p14="http://schemas.microsoft.com/office/powerpoint/2010/main" val="2786807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43E7A1F-808D-BA99-1B1D-0CF076E50B81}"/>
              </a:ext>
            </a:extLst>
          </p:cNvPr>
          <p:cNvSpPr>
            <a:spLocks noGrp="1"/>
          </p:cNvSpPr>
          <p:nvPr>
            <p:ph type="ctrTitle"/>
          </p:nvPr>
        </p:nvSpPr>
        <p:spPr>
          <a:xfrm>
            <a:off x="1154955" y="2502856"/>
            <a:ext cx="8825658" cy="2677648"/>
          </a:xfrm>
        </p:spPr>
        <p:txBody>
          <a:bodyPr/>
          <a:lstStyle/>
          <a:p>
            <a:r>
              <a:rPr lang="en-IN" sz="2800" dirty="0">
                <a:latin typeface="Algerian" panose="04020705040A02060702" pitchFamily="82" charset="0"/>
              </a:rPr>
              <a:t>Research paper 6 </a:t>
            </a:r>
            <a:br>
              <a:rPr lang="en-IN" sz="2800" dirty="0">
                <a:latin typeface="Algerian" panose="04020705040A02060702" pitchFamily="82" charset="0"/>
              </a:rPr>
            </a:br>
            <a:br>
              <a:rPr lang="en-IN" sz="2800" b="1" dirty="0">
                <a:latin typeface="Aptos" panose="020B0004020202020204" pitchFamily="34" charset="0"/>
              </a:rPr>
            </a:br>
            <a:r>
              <a:rPr lang="en-US" sz="2000" b="1" dirty="0">
                <a:latin typeface="Aptos" panose="020B0004020202020204" pitchFamily="34" charset="0"/>
              </a:rPr>
              <a:t>Overview of Security Information and Event Management Systems (SIEM)</a:t>
            </a:r>
            <a:br>
              <a:rPr lang="en-IN" sz="2800" b="1" dirty="0">
                <a:latin typeface="Aptos" panose="020B0004020202020204" pitchFamily="34" charset="0"/>
              </a:rPr>
            </a:br>
            <a:br>
              <a:rPr lang="en-IN" sz="1050" dirty="0"/>
            </a:br>
            <a:r>
              <a:rPr lang="en-US" sz="2000" dirty="0">
                <a:latin typeface="Arial Narrow" panose="020B0606020202030204" pitchFamily="34" charset="0"/>
              </a:rPr>
              <a:t>The paper introduces a web-based system for managing webinars and surveys that integrates registration, attendance, surveys, and certificate generation in one platform. Developed with CodeIgniter and React-JS using the Agile method, the system was tested with 60 respondents. Results showed it is reliable, user-friendly, and effective, with high scores in usability, information quality, and service interaction. It helps organizers streamline activities, collect feedback, and generate reports more efficiently compared to tools like Google Forms. </a:t>
            </a:r>
            <a:endParaRPr lang="en-IN" sz="2000" dirty="0">
              <a:latin typeface="Arial Narrow" panose="020B0606020202030204" pitchFamily="34" charset="0"/>
            </a:endParaRPr>
          </a:p>
        </p:txBody>
      </p:sp>
    </p:spTree>
    <p:extLst>
      <p:ext uri="{BB962C8B-B14F-4D97-AF65-F5344CB8AC3E}">
        <p14:creationId xmlns:p14="http://schemas.microsoft.com/office/powerpoint/2010/main" val="2428975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158699-CBA4-A1B8-9C99-5B52426DDF69}"/>
              </a:ext>
            </a:extLst>
          </p:cNvPr>
          <p:cNvSpPr>
            <a:spLocks noGrp="1"/>
          </p:cNvSpPr>
          <p:nvPr>
            <p:ph type="ctrTitle"/>
          </p:nvPr>
        </p:nvSpPr>
        <p:spPr>
          <a:xfrm>
            <a:off x="1036968" y="1317523"/>
            <a:ext cx="8825658" cy="4620065"/>
          </a:xfrm>
        </p:spPr>
        <p:txBody>
          <a:bodyPr/>
          <a:lstStyle/>
          <a:p>
            <a:r>
              <a:rPr lang="en-IN" sz="2800" dirty="0">
                <a:latin typeface="Algerian" panose="04020705040A02060702" pitchFamily="82" charset="0"/>
              </a:rPr>
              <a:t>Research paper 7</a:t>
            </a:r>
            <a:br>
              <a:rPr lang="en-IN" sz="2800" dirty="0">
                <a:latin typeface="Algerian" panose="04020705040A02060702" pitchFamily="82" charset="0"/>
              </a:rPr>
            </a:br>
            <a:br>
              <a:rPr lang="en-IN" sz="2800" b="1" dirty="0">
                <a:latin typeface="Aptos" panose="020B0004020202020204" pitchFamily="34" charset="0"/>
              </a:rPr>
            </a:br>
            <a:r>
              <a:rPr lang="en-US" sz="2000" b="1" dirty="0">
                <a:latin typeface="Aptos" panose="020B0004020202020204" pitchFamily="34" charset="0"/>
              </a:rPr>
              <a:t>An event management framework for social robots</a:t>
            </a:r>
            <a:br>
              <a:rPr lang="en-IN" sz="2800" dirty="0">
                <a:latin typeface="Algerian" panose="04020705040A02060702" pitchFamily="82" charset="0"/>
              </a:rPr>
            </a:br>
            <a:br>
              <a:rPr lang="en-IN" sz="1100" dirty="0"/>
            </a:br>
            <a:r>
              <a:rPr lang="en-US" sz="2000" dirty="0">
                <a:latin typeface="Arial Narrow" panose="020B0606020202030204" pitchFamily="34" charset="0"/>
              </a:rPr>
              <a:t>The paper introduces SEMARAK, a campus event management system developed for UPN “Veteran” East Java to handle frequent conferences and seminars. Traditional event organization faced problems such as limited promotion, low participation, poor interaction, and weak coordination with facility providers.</a:t>
            </a:r>
            <a:br>
              <a:rPr lang="en-US" sz="2000" dirty="0">
                <a:latin typeface="Arial Narrow" panose="020B0606020202030204" pitchFamily="34" charset="0"/>
              </a:rPr>
            </a:br>
            <a:r>
              <a:rPr lang="en-US" sz="2000" dirty="0">
                <a:latin typeface="Arial Narrow" panose="020B0606020202030204" pitchFamily="34" charset="0"/>
              </a:rPr>
              <a:t>Using the prototyping method, SEMARAK was built with features for event publication, scheduling, facility management, and user roles (admins, faculty, public). Testing showed it helps reduce organizational barriers, improve coordination and transparency, and make event planning more efficient. Future work suggests adding features like attendance tracking, teleconferencing, and virtual tools. </a:t>
            </a:r>
            <a:br>
              <a:rPr lang="en-US" sz="1100" dirty="0">
                <a:latin typeface="Arial Narrow" panose="020B0606020202030204" pitchFamily="34" charset="0"/>
              </a:rPr>
            </a:br>
            <a:endParaRPr lang="en-IN" sz="1100" dirty="0">
              <a:latin typeface="Arial Narrow" panose="020B0606020202030204" pitchFamily="34" charset="0"/>
            </a:endParaRPr>
          </a:p>
        </p:txBody>
      </p:sp>
    </p:spTree>
    <p:extLst>
      <p:ext uri="{BB962C8B-B14F-4D97-AF65-F5344CB8AC3E}">
        <p14:creationId xmlns:p14="http://schemas.microsoft.com/office/powerpoint/2010/main" val="892165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BB0E49E-649B-D125-7ACD-9CD198B45A73}"/>
              </a:ext>
            </a:extLst>
          </p:cNvPr>
          <p:cNvSpPr>
            <a:spLocks noGrp="1"/>
          </p:cNvSpPr>
          <p:nvPr>
            <p:ph type="ctrTitle"/>
          </p:nvPr>
        </p:nvSpPr>
        <p:spPr>
          <a:xfrm>
            <a:off x="1174620" y="1418851"/>
            <a:ext cx="8825658" cy="4020297"/>
          </a:xfrm>
        </p:spPr>
        <p:txBody>
          <a:bodyPr/>
          <a:lstStyle/>
          <a:p>
            <a:r>
              <a:rPr lang="en-IN" sz="2800" dirty="0">
                <a:latin typeface="Algerian" panose="04020705040A02060702" pitchFamily="82" charset="0"/>
              </a:rPr>
              <a:t>Research paper 8</a:t>
            </a:r>
            <a:br>
              <a:rPr lang="en-IN" sz="2800" dirty="0">
                <a:latin typeface="Algerian" panose="04020705040A02060702" pitchFamily="82" charset="0"/>
              </a:rPr>
            </a:br>
            <a:br>
              <a:rPr lang="en-IN" sz="2800" dirty="0">
                <a:latin typeface="Algerian" panose="04020705040A02060702" pitchFamily="82" charset="0"/>
              </a:rPr>
            </a:br>
            <a:r>
              <a:rPr lang="en-US" sz="2000" b="1" dirty="0">
                <a:latin typeface="Aptos" panose="020B0004020202020204" pitchFamily="34" charset="0"/>
              </a:rPr>
              <a:t>Event management literature: exploring the missing body of knowledge</a:t>
            </a:r>
            <a:br>
              <a:rPr lang="en-IN" sz="2800" b="1" dirty="0">
                <a:latin typeface="Aptos" panose="020B0004020202020204" pitchFamily="34" charset="0"/>
              </a:rPr>
            </a:br>
            <a:br>
              <a:rPr lang="en-IN" sz="1100" dirty="0"/>
            </a:br>
            <a:r>
              <a:rPr lang="en-US" sz="2000" dirty="0">
                <a:latin typeface="Arial Narrow" panose="020B0606020202030204" pitchFamily="34" charset="0"/>
              </a:rPr>
              <a:t>The paper reviews Security Information and Event Management (SIEM) systems, which collect and analyze logs from across an organization to detect cyber threats in real time. SIEMs automate log analysis, improve threat detection, compliance, and incident response, and provide a centralized view of security. The study explains SIEM architecture, log collection methods, and challenges like false positives, alert fatigue, and scalability. Future developments include AI/ML integration, cloud-based SIEM, SOAR automation, and mobile/IoT monitoring to strengthen cybersecurity.</a:t>
            </a:r>
            <a:br>
              <a:rPr lang="en-US" sz="2000" dirty="0">
                <a:latin typeface="Arial Narrow" panose="020B0606020202030204" pitchFamily="34" charset="0"/>
              </a:rPr>
            </a:br>
            <a:endParaRPr lang="en-IN" sz="2000" dirty="0">
              <a:latin typeface="Arial Narrow" panose="020B0606020202030204" pitchFamily="34" charset="0"/>
            </a:endParaRPr>
          </a:p>
        </p:txBody>
      </p:sp>
    </p:spTree>
    <p:extLst>
      <p:ext uri="{BB962C8B-B14F-4D97-AF65-F5344CB8AC3E}">
        <p14:creationId xmlns:p14="http://schemas.microsoft.com/office/powerpoint/2010/main" val="839097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317F2B-DE80-331D-830F-CFABDB819613}"/>
              </a:ext>
            </a:extLst>
          </p:cNvPr>
          <p:cNvSpPr>
            <a:spLocks noGrp="1"/>
          </p:cNvSpPr>
          <p:nvPr>
            <p:ph type="ctrTitle"/>
          </p:nvPr>
        </p:nvSpPr>
        <p:spPr>
          <a:xfrm>
            <a:off x="918981" y="2365204"/>
            <a:ext cx="8825658" cy="2677648"/>
          </a:xfrm>
        </p:spPr>
        <p:txBody>
          <a:bodyPr/>
          <a:lstStyle/>
          <a:p>
            <a:r>
              <a:rPr lang="en-IN" sz="2800" dirty="0">
                <a:latin typeface="Algerian" panose="04020705040A02060702" pitchFamily="82" charset="0"/>
              </a:rPr>
              <a:t>Research paper 9</a:t>
            </a:r>
            <a:br>
              <a:rPr lang="en-IN" sz="2800" dirty="0">
                <a:latin typeface="Algerian" panose="04020705040A02060702" pitchFamily="82" charset="0"/>
              </a:rPr>
            </a:br>
            <a:br>
              <a:rPr lang="en-IN" sz="2400" b="1" dirty="0">
                <a:latin typeface="Aptos" panose="020B0004020202020204" pitchFamily="34" charset="0"/>
              </a:rPr>
            </a:br>
            <a:r>
              <a:rPr lang="en-US" sz="2400" b="1" dirty="0">
                <a:latin typeface="Aptos" panose="020B0004020202020204" pitchFamily="34" charset="0"/>
              </a:rPr>
              <a:t>Event Management System for Webinars and Survey</a:t>
            </a:r>
            <a:br>
              <a:rPr lang="en-IN" sz="2800" dirty="0">
                <a:latin typeface="Algerian" panose="04020705040A02060702" pitchFamily="82" charset="0"/>
              </a:rPr>
            </a:br>
            <a:br>
              <a:rPr lang="en-IN" sz="1100" dirty="0"/>
            </a:br>
            <a:r>
              <a:rPr lang="en-US" sz="2000" dirty="0">
                <a:latin typeface="Arial Narrow" panose="020B0606020202030204" pitchFamily="34" charset="0"/>
              </a:rPr>
              <a:t>The paper proposes an event management framework for social robots to help them interact more effectively in real-world environments. The framework enables robots to sense, interpret, and respond to events dynamically, improving communication, adaptability, and collaboration with humans. It highlights applications in education, healthcare, and public services, while also discussing challenges like complex event processing and real-time decision-making.</a:t>
            </a:r>
            <a:endParaRPr lang="en-IN" sz="2000" dirty="0">
              <a:latin typeface="Arial Narrow" panose="020B0606020202030204" pitchFamily="34" charset="0"/>
            </a:endParaRPr>
          </a:p>
        </p:txBody>
      </p:sp>
    </p:spTree>
    <p:extLst>
      <p:ext uri="{BB962C8B-B14F-4D97-AF65-F5344CB8AC3E}">
        <p14:creationId xmlns:p14="http://schemas.microsoft.com/office/powerpoint/2010/main" val="120509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6ECE3F-7F22-2AA8-DCDB-58E84361CBFC}"/>
              </a:ext>
            </a:extLst>
          </p:cNvPr>
          <p:cNvSpPr>
            <a:spLocks noGrp="1"/>
          </p:cNvSpPr>
          <p:nvPr>
            <p:ph type="ctrTitle"/>
          </p:nvPr>
        </p:nvSpPr>
        <p:spPr>
          <a:xfrm>
            <a:off x="938645" y="2090176"/>
            <a:ext cx="8825658" cy="2677648"/>
          </a:xfrm>
        </p:spPr>
        <p:txBody>
          <a:bodyPr/>
          <a:lstStyle/>
          <a:p>
            <a:r>
              <a:rPr lang="en-IN" sz="2800" dirty="0">
                <a:latin typeface="Algerian" panose="04020705040A02060702" pitchFamily="82" charset="0"/>
              </a:rPr>
              <a:t>Research paper 10</a:t>
            </a:r>
            <a:br>
              <a:rPr lang="en-IN" sz="2800" dirty="0">
                <a:latin typeface="Algerian" panose="04020705040A02060702" pitchFamily="82" charset="0"/>
              </a:rPr>
            </a:br>
            <a:br>
              <a:rPr lang="en-IN" sz="2800" dirty="0">
                <a:latin typeface="Algerian" panose="04020705040A02060702" pitchFamily="82" charset="0"/>
              </a:rPr>
            </a:br>
            <a:r>
              <a:rPr lang="en-US" sz="2000" b="1" dirty="0">
                <a:latin typeface="Aptos" panose="020B0004020202020204" pitchFamily="34" charset="0"/>
              </a:rPr>
              <a:t>Security Information and Event Management (SIEM) – A Comprehensive Study</a:t>
            </a:r>
            <a:br>
              <a:rPr lang="en-IN" sz="2800" dirty="0">
                <a:latin typeface="Algerian" panose="04020705040A02060702" pitchFamily="82" charset="0"/>
              </a:rPr>
            </a:br>
            <a:br>
              <a:rPr lang="en-IN" sz="1100" dirty="0"/>
            </a:br>
            <a:r>
              <a:rPr lang="en-US" sz="2000" dirty="0">
                <a:latin typeface="Arial Narrow" panose="020B0606020202030204" pitchFamily="34" charset="0"/>
              </a:rPr>
              <a:t>The paper reviews the state of event management research and finds that the field lacks a clear, structured body of knowledge compared to established disciplines. Event management is often studied through tourism, hospitality, and leisure, leaving gaps in areas like theory, professional practice, and education frameworks. The authors argue for developing a distinct research agenda and stronger theoretical foundations to establish event management as an independent academic field. </a:t>
            </a:r>
            <a:endParaRPr lang="en-IN" sz="2000" dirty="0">
              <a:latin typeface="Arial Narrow" panose="020B0606020202030204" pitchFamily="34" charset="0"/>
            </a:endParaRPr>
          </a:p>
        </p:txBody>
      </p:sp>
      <p:sp>
        <p:nvSpPr>
          <p:cNvPr id="6" name="TextBox 5">
            <a:extLst>
              <a:ext uri="{FF2B5EF4-FFF2-40B4-BE49-F238E27FC236}">
                <a16:creationId xmlns:a16="http://schemas.microsoft.com/office/drawing/2014/main" id="{52D47DFE-A4B7-98CF-8FF9-1C216E43C7A8}"/>
              </a:ext>
            </a:extLst>
          </p:cNvPr>
          <p:cNvSpPr txBox="1"/>
          <p:nvPr/>
        </p:nvSpPr>
        <p:spPr>
          <a:xfrm>
            <a:off x="3962400" y="5230761"/>
            <a:ext cx="3293806" cy="707886"/>
          </a:xfrm>
          <a:prstGeom prst="rect">
            <a:avLst/>
          </a:prstGeom>
          <a:noFill/>
        </p:spPr>
        <p:txBody>
          <a:bodyPr wrap="square" rtlCol="0">
            <a:spAutoFit/>
          </a:bodyPr>
          <a:lstStyle/>
          <a:p>
            <a:r>
              <a:rPr lang="en-IN" sz="4000" b="1" dirty="0">
                <a:solidFill>
                  <a:schemeClr val="bg1"/>
                </a:solidFill>
                <a:latin typeface="Arial Narrow" panose="020B0606020202030204" pitchFamily="34" charset="0"/>
              </a:rPr>
              <a:t>THANK YOU</a:t>
            </a:r>
          </a:p>
        </p:txBody>
      </p:sp>
    </p:spTree>
    <p:extLst>
      <p:ext uri="{BB962C8B-B14F-4D97-AF65-F5344CB8AC3E}">
        <p14:creationId xmlns:p14="http://schemas.microsoft.com/office/powerpoint/2010/main" val="16634325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96</TotalTime>
  <Words>1040</Words>
  <Application>Microsoft Office PowerPoint</Application>
  <PresentationFormat>Widescreen</PresentationFormat>
  <Paragraphs>24</Paragraphs>
  <Slides>11</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Algerian</vt:lpstr>
      <vt:lpstr>Aptos</vt:lpstr>
      <vt:lpstr>Arial</vt:lpstr>
      <vt:lpstr>Arial Narrow</vt:lpstr>
      <vt:lpstr>Calibri</vt:lpstr>
      <vt:lpstr>Century Gothic</vt:lpstr>
      <vt:lpstr>Wingdings 3</vt:lpstr>
      <vt:lpstr>Ion Boardroom</vt:lpstr>
      <vt:lpstr>EVENT MANAGEMENT SYSTEM LITERATURE REVIEW</vt:lpstr>
      <vt:lpstr>   RESEARCH PAPER 1  Event Management Systems (EMS)  The paper presents the design and implementation of a Database System for Event Management Customizer (EMC), a startup in Malaysia. The system manages clients, bookings, payments, accommodations, staff, and facilities through a MySQL-based relational database. Using ER modeling and SQL queries, it ensures accurate, efficient, and scalable data handling. </vt:lpstr>
      <vt:lpstr>RESEARCH PAPER 2  Design and Implementation of a Database System for Event Management Customizer (EMC)  The EMS is a web-based platform that streamlines event planning by allowing users to book services like catering, décor, and venues online. Built with React.js, Node.js, and Firebase/MongoDB using the RAD model, it enhances convenience, reduces miscommunication, and simplifies management for both clients and admins. While it lacks some service options and mobile support, it significantly improves upon traditional manual event planning. </vt:lpstr>
      <vt:lpstr>RESEARCH PAPER 3  Innovative Event Management Platform Design with Integrated Ticketing and Networking Features  The paper proposes an event management app for ULBI that integrates ticketing, scheduling, and networking to make campus events more organized and accessible. Built with a mobile-first, cloud-based design, it allows easy event creation, booking, and real-time updates. Surveys with students and staff showed strong support, as the system improves engagement, transparency, and revenue generation while offering a better overall event experience.  </vt:lpstr>
      <vt:lpstr>Research paper 4  Event Management System Using Progressive Web Application  The paper introduces DAWAT, a Progressive Web Application for event management that simplifies booking and organizing events like weddings, parties, and conferences. It offers features for customers (event creation, budgeting, payments, reminders), admins (event and vendor management, reporting), and vendors (profiles, communication, payments). The system aims to make event planning more user-friendly, efficient, and accessible, bridging the gap between organizers, vendors, and clients. </vt:lpstr>
      <vt:lpstr>Research paper 5  Event Management System for Conference &amp; Workshop   The paper presents a web-based Event Management System that streamlines event planning by managing bookings, venues, catering, and customer details in one platform. It reduces manual work, saves time, and improves efficiency compared to traditional methods. The system uses HTML, PHP, and MySQL for implementation and was tested to ensure reliability, user-friendliness, and accuracy in managing events. It also highlights how automation can enhance customer satisfaction, transparency, and scalability for future event management needs.  </vt:lpstr>
      <vt:lpstr>Research paper 6   Overview of Security Information and Event Management Systems (SIEM)  The paper introduces a web-based system for managing webinars and surveys that integrates registration, attendance, surveys, and certificate generation in one platform. Developed with CodeIgniter and React-JS using the Agile method, the system was tested with 60 respondents. Results showed it is reliable, user-friendly, and effective, with high scores in usability, information quality, and service interaction. It helps organizers streamline activities, collect feedback, and generate reports more efficiently compared to tools like Google Forms. </vt:lpstr>
      <vt:lpstr>Research paper 7  An event management framework for social robots  The paper introduces SEMARAK, a campus event management system developed for UPN “Veteran” East Java to handle frequent conferences and seminars. Traditional event organization faced problems such as limited promotion, low participation, poor interaction, and weak coordination with facility providers. Using the prototyping method, SEMARAK was built with features for event publication, scheduling, facility management, and user roles (admins, faculty, public). Testing showed it helps reduce organizational barriers, improve coordination and transparency, and make event planning more efficient. Future work suggests adding features like attendance tracking, teleconferencing, and virtual tools.  </vt:lpstr>
      <vt:lpstr>Research paper 8  Event management literature: exploring the missing body of knowledge  The paper reviews Security Information and Event Management (SIEM) systems, which collect and analyze logs from across an organization to detect cyber threats in real time. SIEMs automate log analysis, improve threat detection, compliance, and incident response, and provide a centralized view of security. The study explains SIEM architecture, log collection methods, and challenges like false positives, alert fatigue, and scalability. Future developments include AI/ML integration, cloud-based SIEM, SOAR automation, and mobile/IoT monitoring to strengthen cybersecurity. </vt:lpstr>
      <vt:lpstr>Research paper 9  Event Management System for Webinars and Survey  The paper proposes an event management framework for social robots to help them interact more effectively in real-world environments. The framework enables robots to sense, interpret, and respond to events dynamically, improving communication, adaptability, and collaboration with humans. It highlights applications in education, healthcare, and public services, while also discussing challenges like complex event processing and real-time decision-making.</vt:lpstr>
      <vt:lpstr>Research paper 10  Security Information and Event Management (SIEM) – A Comprehensive Study  The paper reviews the state of event management research and finds that the field lacks a clear, structured body of knowledge compared to established disciplines. Event management is often studied through tourism, hospitality, and leisure, leaving gaps in areas like theory, professional practice, and education frameworks. The authors argue for developing a distinct research agenda and stronger theoretical foundations to establish event management as an independent academic field.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kyasa gowtham</dc:creator>
  <cp:lastModifiedBy>kyasa gowtham</cp:lastModifiedBy>
  <cp:revision>8</cp:revision>
  <dcterms:created xsi:type="dcterms:W3CDTF">2025-08-19T08:17:03Z</dcterms:created>
  <dcterms:modified xsi:type="dcterms:W3CDTF">2025-11-13T09:00:29Z</dcterms:modified>
</cp:coreProperties>
</file>